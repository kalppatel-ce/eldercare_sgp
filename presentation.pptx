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 Bold" panose="020B0604020202020204" charset="0"/>
      <p:regular r:id="rId8"/>
    </p:embeddedFont>
    <p:embeddedFont>
      <p:font typeface="Poppins" panose="00000500000000000000" pitchFamily="2" charset="0"/>
      <p:regular r:id="rId9"/>
    </p:embeddedFont>
    <p:embeddedFont>
      <p:font typeface="Poppins Bold" panose="020B0604020202020204" charset="0"/>
      <p:regular r:id="rId10"/>
    </p:embeddedFont>
    <p:embeddedFont>
      <p:font typeface="Poppins Italics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611945">
            <a:off x="14458950" y="4723039"/>
            <a:ext cx="7658100" cy="5426529"/>
            <a:chOff x="0" y="0"/>
            <a:chExt cx="2016948" cy="14292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6948" cy="1429209"/>
            </a:xfrm>
            <a:custGeom>
              <a:avLst/>
              <a:gdLst/>
              <a:ahLst/>
              <a:cxnLst/>
              <a:rect l="l" t="t" r="r" b="b"/>
              <a:pathLst>
                <a:path w="2016948" h="1429209">
                  <a:moveTo>
                    <a:pt x="51558" y="0"/>
                  </a:moveTo>
                  <a:lnTo>
                    <a:pt x="1965390" y="0"/>
                  </a:lnTo>
                  <a:cubicBezTo>
                    <a:pt x="1979064" y="0"/>
                    <a:pt x="1992178" y="5432"/>
                    <a:pt x="2001847" y="15101"/>
                  </a:cubicBezTo>
                  <a:cubicBezTo>
                    <a:pt x="2011516" y="24770"/>
                    <a:pt x="2016948" y="37884"/>
                    <a:pt x="2016948" y="51558"/>
                  </a:cubicBezTo>
                  <a:lnTo>
                    <a:pt x="2016948" y="1377651"/>
                  </a:lnTo>
                  <a:cubicBezTo>
                    <a:pt x="2016948" y="1391325"/>
                    <a:pt x="2011516" y="1404439"/>
                    <a:pt x="2001847" y="1414108"/>
                  </a:cubicBezTo>
                  <a:cubicBezTo>
                    <a:pt x="1992178" y="1423777"/>
                    <a:pt x="1979064" y="1429209"/>
                    <a:pt x="1965390" y="1429209"/>
                  </a:cubicBezTo>
                  <a:lnTo>
                    <a:pt x="51558" y="1429209"/>
                  </a:lnTo>
                  <a:cubicBezTo>
                    <a:pt x="37884" y="1429209"/>
                    <a:pt x="24770" y="1423777"/>
                    <a:pt x="15101" y="1414108"/>
                  </a:cubicBezTo>
                  <a:cubicBezTo>
                    <a:pt x="5432" y="1404439"/>
                    <a:pt x="0" y="1391325"/>
                    <a:pt x="0" y="1377651"/>
                  </a:cubicBezTo>
                  <a:lnTo>
                    <a:pt x="0" y="51558"/>
                  </a:lnTo>
                  <a:cubicBezTo>
                    <a:pt x="0" y="37884"/>
                    <a:pt x="5432" y="24770"/>
                    <a:pt x="15101" y="15101"/>
                  </a:cubicBezTo>
                  <a:cubicBezTo>
                    <a:pt x="24770" y="5432"/>
                    <a:pt x="37884" y="0"/>
                    <a:pt x="51558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2016948" cy="17625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611945">
            <a:off x="-614581" y="-1866767"/>
            <a:ext cx="3031341" cy="2798456"/>
            <a:chOff x="0" y="0"/>
            <a:chExt cx="798378" cy="7370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8378" cy="737042"/>
            </a:xfrm>
            <a:custGeom>
              <a:avLst/>
              <a:gdLst/>
              <a:ahLst/>
              <a:cxnLst/>
              <a:rect l="l" t="t" r="r" b="b"/>
              <a:pathLst>
                <a:path w="798378" h="737042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2611945">
            <a:off x="12055325" y="9566947"/>
            <a:ext cx="3031341" cy="2798456"/>
            <a:chOff x="0" y="0"/>
            <a:chExt cx="798378" cy="7370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8378" cy="737042"/>
            </a:xfrm>
            <a:custGeom>
              <a:avLst/>
              <a:gdLst/>
              <a:ahLst/>
              <a:cxnLst/>
              <a:rect l="l" t="t" r="r" b="b"/>
              <a:pathLst>
                <a:path w="798378" h="737042">
                  <a:moveTo>
                    <a:pt x="130252" y="0"/>
                  </a:moveTo>
                  <a:lnTo>
                    <a:pt x="668126" y="0"/>
                  </a:lnTo>
                  <a:cubicBezTo>
                    <a:pt x="702671" y="0"/>
                    <a:pt x="735801" y="13723"/>
                    <a:pt x="760228" y="38150"/>
                  </a:cubicBezTo>
                  <a:cubicBezTo>
                    <a:pt x="784655" y="62577"/>
                    <a:pt x="798378" y="95707"/>
                    <a:pt x="798378" y="130252"/>
                  </a:cubicBezTo>
                  <a:lnTo>
                    <a:pt x="798378" y="606790"/>
                  </a:lnTo>
                  <a:cubicBezTo>
                    <a:pt x="798378" y="678726"/>
                    <a:pt x="740062" y="737042"/>
                    <a:pt x="668126" y="737042"/>
                  </a:cubicBezTo>
                  <a:lnTo>
                    <a:pt x="130252" y="737042"/>
                  </a:lnTo>
                  <a:cubicBezTo>
                    <a:pt x="58316" y="737042"/>
                    <a:pt x="0" y="678726"/>
                    <a:pt x="0" y="606790"/>
                  </a:cubicBezTo>
                  <a:lnTo>
                    <a:pt x="0" y="130252"/>
                  </a:lnTo>
                  <a:cubicBezTo>
                    <a:pt x="0" y="58316"/>
                    <a:pt x="58316" y="0"/>
                    <a:pt x="130252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33375"/>
              <a:ext cx="798378" cy="1070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499572" y="6207202"/>
            <a:ext cx="7376482" cy="0"/>
          </a:xfrm>
          <a:prstGeom prst="line">
            <a:avLst/>
          </a:prstGeom>
          <a:ln w="4762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 rot="-2611945">
            <a:off x="12744473" y="42362"/>
            <a:ext cx="8101900" cy="3702724"/>
            <a:chOff x="0" y="0"/>
            <a:chExt cx="2133834" cy="9752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23374" y="847293"/>
            <a:ext cx="13126529" cy="1988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8"/>
              </a:lnSpc>
            </a:pPr>
            <a:r>
              <a:rPr lang="en-US" sz="571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ELDER HEALTH &amp; CARE MONITORING SYSTEM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13432" y="4417935"/>
            <a:ext cx="5625493" cy="151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9"/>
              </a:lnSpc>
            </a:pPr>
            <a:r>
              <a:rPr lang="en-US" sz="5948" b="1" spc="1213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 SEMESTER PROJECT</a:t>
            </a:r>
          </a:p>
          <a:p>
            <a:pPr algn="l">
              <a:lnSpc>
                <a:spcPts val="74"/>
              </a:lnSpc>
            </a:pPr>
            <a:endParaRPr lang="en-US" sz="5948" b="1" spc="1213">
              <a:solidFill>
                <a:srgbClr val="8D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17" name="Group 17"/>
          <p:cNvGrpSpPr/>
          <p:nvPr/>
        </p:nvGrpSpPr>
        <p:grpSpPr>
          <a:xfrm rot="-2611945">
            <a:off x="10808920" y="-3972270"/>
            <a:ext cx="8101900" cy="3702724"/>
            <a:chOff x="0" y="0"/>
            <a:chExt cx="2133834" cy="9752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2611945">
            <a:off x="-6128725" y="8307085"/>
            <a:ext cx="8101900" cy="3702724"/>
            <a:chOff x="0" y="0"/>
            <a:chExt cx="2133834" cy="9752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33834" cy="975203"/>
            </a:xfrm>
            <a:custGeom>
              <a:avLst/>
              <a:gdLst/>
              <a:ahLst/>
              <a:cxnLst/>
              <a:rect l="l" t="t" r="r" b="b"/>
              <a:pathLst>
                <a:path w="2133834" h="975203">
                  <a:moveTo>
                    <a:pt x="48734" y="0"/>
                  </a:moveTo>
                  <a:lnTo>
                    <a:pt x="2085100" y="0"/>
                  </a:lnTo>
                  <a:cubicBezTo>
                    <a:pt x="2112015" y="0"/>
                    <a:pt x="2133834" y="21819"/>
                    <a:pt x="2133834" y="48734"/>
                  </a:cubicBezTo>
                  <a:lnTo>
                    <a:pt x="2133834" y="926469"/>
                  </a:lnTo>
                  <a:cubicBezTo>
                    <a:pt x="2133834" y="953384"/>
                    <a:pt x="2112015" y="975203"/>
                    <a:pt x="2085100" y="975203"/>
                  </a:cubicBezTo>
                  <a:lnTo>
                    <a:pt x="48734" y="975203"/>
                  </a:lnTo>
                  <a:cubicBezTo>
                    <a:pt x="21819" y="975203"/>
                    <a:pt x="0" y="953384"/>
                    <a:pt x="0" y="926469"/>
                  </a:cubicBezTo>
                  <a:lnTo>
                    <a:pt x="0" y="48734"/>
                  </a:lnTo>
                  <a:cubicBezTo>
                    <a:pt x="0" y="21819"/>
                    <a:pt x="21819" y="0"/>
                    <a:pt x="4873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33375"/>
              <a:ext cx="2133834" cy="1308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23374" y="2970770"/>
            <a:ext cx="9524466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Project Progress Presentation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7988" y="6641872"/>
            <a:ext cx="5673348" cy="1050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1" dirty="0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 Yash Desa</a:t>
            </a:r>
            <a:r>
              <a:rPr lang="en-US" sz="29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i, Kalp Patel, Harsh Hirpara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55627" y="1318496"/>
            <a:ext cx="6257114" cy="90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6411" y="2405626"/>
            <a:ext cx="8918240" cy="110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7700" b="1" spc="1478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796411" y="1360532"/>
            <a:ext cx="1592821" cy="7565937"/>
            <a:chOff x="0" y="0"/>
            <a:chExt cx="419508" cy="1992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491589" y="1360532"/>
            <a:ext cx="1592821" cy="7565937"/>
            <a:chOff x="0" y="0"/>
            <a:chExt cx="419508" cy="19926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9508" cy="1992675"/>
            </a:xfrm>
            <a:custGeom>
              <a:avLst/>
              <a:gdLst/>
              <a:ahLst/>
              <a:cxnLst/>
              <a:rect l="l" t="t" r="r" b="b"/>
              <a:pathLst>
                <a:path w="419508" h="1992675">
                  <a:moveTo>
                    <a:pt x="209754" y="0"/>
                  </a:moveTo>
                  <a:lnTo>
                    <a:pt x="209754" y="0"/>
                  </a:lnTo>
                  <a:cubicBezTo>
                    <a:pt x="325598" y="0"/>
                    <a:pt x="419508" y="93910"/>
                    <a:pt x="419508" y="209754"/>
                  </a:cubicBezTo>
                  <a:lnTo>
                    <a:pt x="419508" y="1782920"/>
                  </a:lnTo>
                  <a:cubicBezTo>
                    <a:pt x="419508" y="1898765"/>
                    <a:pt x="325598" y="1992675"/>
                    <a:pt x="209754" y="1992675"/>
                  </a:cubicBezTo>
                  <a:lnTo>
                    <a:pt x="209754" y="1992675"/>
                  </a:lnTo>
                  <a:cubicBezTo>
                    <a:pt x="93910" y="1992675"/>
                    <a:pt x="0" y="1898765"/>
                    <a:pt x="0" y="1782920"/>
                  </a:cubicBezTo>
                  <a:lnTo>
                    <a:pt x="0" y="209754"/>
                  </a:lnTo>
                  <a:cubicBezTo>
                    <a:pt x="0" y="93910"/>
                    <a:pt x="93910" y="0"/>
                    <a:pt x="209754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33375"/>
              <a:ext cx="419508" cy="2326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1028731" y="3653727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296855" y="3761245"/>
            <a:ext cx="8079966" cy="3621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4255" lvl="1" indent="-317127" algn="l">
              <a:lnSpc>
                <a:spcPts val="7344"/>
              </a:lnSpc>
              <a:buFont typeface="Arial"/>
              <a:buChar char="•"/>
            </a:pPr>
            <a:r>
              <a:rPr lang="en-US" sz="293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Role-based Elder Monitoring Platform</a:t>
            </a:r>
          </a:p>
          <a:p>
            <a:pPr marL="634255" lvl="1" indent="-317127" algn="l">
              <a:lnSpc>
                <a:spcPts val="7344"/>
              </a:lnSpc>
              <a:buFont typeface="Arial"/>
              <a:buChar char="•"/>
            </a:pPr>
            <a:r>
              <a:rPr lang="en-US" sz="293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Appointment &amp; activity scheduling</a:t>
            </a:r>
          </a:p>
          <a:p>
            <a:pPr marL="634255" lvl="1" indent="-317127" algn="l">
              <a:lnSpc>
                <a:spcPts val="7344"/>
              </a:lnSpc>
              <a:buFont typeface="Arial"/>
              <a:buChar char="•"/>
            </a:pPr>
            <a:r>
              <a:rPr lang="en-US" sz="293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Real-time monitoring dashboards</a:t>
            </a:r>
          </a:p>
          <a:p>
            <a:pPr marL="634255" lvl="1" indent="-317127" algn="l">
              <a:lnSpc>
                <a:spcPts val="7344"/>
              </a:lnSpc>
              <a:buFont typeface="Arial"/>
              <a:buChar char="•"/>
            </a:pPr>
            <a:r>
              <a:rPr lang="en-US" sz="2937">
                <a:solidFill>
                  <a:srgbClr val="2E2E2E"/>
                </a:solidFill>
                <a:latin typeface="Poppins"/>
                <a:ea typeface="Poppins"/>
                <a:cs typeface="Poppins"/>
                <a:sym typeface="Poppins"/>
              </a:rPr>
              <a:t> Medication tracking and alerts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999C98A-7F8A-B6AE-6B1A-D96AE5F6F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786" y="952500"/>
            <a:ext cx="7506549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03507">
            <a:off x="8249399" y="1316288"/>
            <a:ext cx="12583451" cy="6795882"/>
            <a:chOff x="0" y="0"/>
            <a:chExt cx="3314160" cy="17898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4160" cy="1789862"/>
            </a:xfrm>
            <a:custGeom>
              <a:avLst/>
              <a:gdLst/>
              <a:ahLst/>
              <a:cxnLst/>
              <a:rect l="l" t="t" r="r" b="b"/>
              <a:pathLst>
                <a:path w="3314160" h="1789862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758484"/>
                  </a:lnTo>
                  <a:cubicBezTo>
                    <a:pt x="3314160" y="1775814"/>
                    <a:pt x="3300112" y="1789862"/>
                    <a:pt x="3282783" y="1789862"/>
                  </a:cubicBezTo>
                  <a:lnTo>
                    <a:pt x="31378" y="1789862"/>
                  </a:lnTo>
                  <a:cubicBezTo>
                    <a:pt x="14048" y="1789862"/>
                    <a:pt x="0" y="1775814"/>
                    <a:pt x="0" y="1758484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3314160" cy="2123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722347" y="3232290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028700" y="1325909"/>
            <a:ext cx="6536621" cy="62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7"/>
              </a:lnSpc>
            </a:pPr>
            <a:r>
              <a:rPr lang="en-US" sz="478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COMPLETED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5297" y="2007880"/>
            <a:ext cx="6760254" cy="101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sz="7100" b="1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SO FAR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7520" y="3813224"/>
            <a:ext cx="9046060" cy="448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1"/>
              </a:lnSpc>
            </a:pPr>
            <a:r>
              <a:rPr lang="en-US" sz="3356" spc="104" dirty="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• PostgreSQL Database Design</a:t>
            </a:r>
          </a:p>
          <a:p>
            <a:pPr algn="l">
              <a:lnSpc>
                <a:spcPts val="4531"/>
              </a:lnSpc>
            </a:pPr>
            <a:r>
              <a:rPr lang="en-US" sz="3356" spc="104" dirty="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• Backend APIs (Node.js + Express)</a:t>
            </a:r>
          </a:p>
          <a:p>
            <a:pPr algn="l">
              <a:lnSpc>
                <a:spcPts val="4531"/>
              </a:lnSpc>
            </a:pPr>
            <a:r>
              <a:rPr lang="en-US" sz="3356" spc="104" dirty="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• Authentication System (Hashing)</a:t>
            </a:r>
          </a:p>
          <a:p>
            <a:pPr algn="l">
              <a:lnSpc>
                <a:spcPts val="4531"/>
              </a:lnSpc>
            </a:pPr>
            <a:r>
              <a:rPr lang="en-US" sz="3356" spc="104" dirty="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• Admin Portal, Family Member Portal and Caretaker Portal(basic management)</a:t>
            </a:r>
          </a:p>
          <a:p>
            <a:pPr algn="l">
              <a:lnSpc>
                <a:spcPts val="4531"/>
              </a:lnSpc>
            </a:pPr>
            <a:r>
              <a:rPr lang="en-US" sz="3356" spc="104" dirty="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0" lvl="0" indent="0" algn="l">
              <a:lnSpc>
                <a:spcPts val="3361"/>
              </a:lnSpc>
              <a:spcBef>
                <a:spcPct val="0"/>
              </a:spcBef>
            </a:pPr>
            <a:endParaRPr lang="en-US" sz="3356" spc="104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2F1735A-2C02-C6A6-2413-AF3B3AABC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154" y="745932"/>
            <a:ext cx="7687659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03507">
            <a:off x="-7720970" y="1056579"/>
            <a:ext cx="12583451" cy="7382737"/>
            <a:chOff x="0" y="0"/>
            <a:chExt cx="3314160" cy="19444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4160" cy="1944425"/>
            </a:xfrm>
            <a:custGeom>
              <a:avLst/>
              <a:gdLst/>
              <a:ahLst/>
              <a:cxnLst/>
              <a:rect l="l" t="t" r="r" b="b"/>
              <a:pathLst>
                <a:path w="3314160" h="1944425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2618758" y="4100540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-1753856" y="9614819"/>
            <a:ext cx="5565113" cy="672181"/>
            <a:chOff x="0" y="0"/>
            <a:chExt cx="1465709" cy="1770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476744" y="0"/>
            <a:ext cx="5565113" cy="672181"/>
            <a:chOff x="0" y="0"/>
            <a:chExt cx="1465709" cy="17703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65709" cy="177035"/>
            </a:xfrm>
            <a:custGeom>
              <a:avLst/>
              <a:gdLst/>
              <a:ahLst/>
              <a:cxnLst/>
              <a:rect l="l" t="t" r="r" b="b"/>
              <a:pathLst>
                <a:path w="1465709" h="177035">
                  <a:moveTo>
                    <a:pt x="70949" y="0"/>
                  </a:moveTo>
                  <a:lnTo>
                    <a:pt x="1394760" y="0"/>
                  </a:lnTo>
                  <a:cubicBezTo>
                    <a:pt x="1433944" y="0"/>
                    <a:pt x="1465709" y="31765"/>
                    <a:pt x="1465709" y="70949"/>
                  </a:cubicBezTo>
                  <a:lnTo>
                    <a:pt x="1465709" y="106086"/>
                  </a:lnTo>
                  <a:cubicBezTo>
                    <a:pt x="1465709" y="145270"/>
                    <a:pt x="1433944" y="177035"/>
                    <a:pt x="1394760" y="177035"/>
                  </a:cubicBezTo>
                  <a:lnTo>
                    <a:pt x="70949" y="177035"/>
                  </a:lnTo>
                  <a:cubicBezTo>
                    <a:pt x="31765" y="177035"/>
                    <a:pt x="0" y="145270"/>
                    <a:pt x="0" y="106086"/>
                  </a:cubicBezTo>
                  <a:lnTo>
                    <a:pt x="0" y="70949"/>
                  </a:lnTo>
                  <a:cubicBezTo>
                    <a:pt x="0" y="31765"/>
                    <a:pt x="31765" y="0"/>
                    <a:pt x="70949" y="0"/>
                  </a:cubicBez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33375"/>
              <a:ext cx="1465709" cy="5104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104189" y="1976881"/>
            <a:ext cx="4480399" cy="86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0"/>
              </a:lnSpc>
            </a:pPr>
            <a:r>
              <a:rPr lang="en-US" sz="61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70705" y="2495605"/>
            <a:ext cx="4996390" cy="109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40"/>
              </a:lnSpc>
            </a:pPr>
            <a:r>
              <a:rPr lang="en-US" sz="6100" b="1" spc="573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 PROGRESS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6742" y="4433551"/>
            <a:ext cx="8088874" cy="4824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7"/>
              </a:lnSpc>
            </a:pPr>
            <a:r>
              <a:rPr lang="en-US" sz="3753" b="1" spc="116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• Basic React dashboard structure</a:t>
            </a:r>
          </a:p>
          <a:p>
            <a:pPr algn="l">
              <a:lnSpc>
                <a:spcPts val="5067"/>
              </a:lnSpc>
            </a:pPr>
            <a:r>
              <a:rPr lang="en-US" sz="3753" b="1" spc="116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• Elder activity timeline</a:t>
            </a:r>
          </a:p>
          <a:p>
            <a:pPr algn="l">
              <a:lnSpc>
                <a:spcPts val="5067"/>
              </a:lnSpc>
            </a:pPr>
            <a:r>
              <a:rPr lang="en-US" sz="3753" b="1" spc="116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• Alerts system integration</a:t>
            </a:r>
          </a:p>
          <a:p>
            <a:pPr algn="l">
              <a:lnSpc>
                <a:spcPts val="5067"/>
              </a:lnSpc>
            </a:pPr>
            <a:r>
              <a:rPr lang="en-US" sz="3753" b="1" spc="116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• Medication module working</a:t>
            </a:r>
          </a:p>
          <a:p>
            <a:pPr algn="l">
              <a:lnSpc>
                <a:spcPts val="5067"/>
              </a:lnSpc>
            </a:pPr>
            <a:r>
              <a:rPr lang="en-US" sz="3753" b="1" spc="116" dirty="0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algn="l">
              <a:lnSpc>
                <a:spcPts val="2409"/>
              </a:lnSpc>
            </a:pPr>
            <a:endParaRPr lang="en-US" sz="3753" b="1" spc="116" dirty="0">
              <a:solidFill>
                <a:srgbClr val="2B2B2B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657"/>
              </a:lnSpc>
            </a:pPr>
            <a:r>
              <a:rPr lang="en-US" sz="1968" spc="61" dirty="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0" lvl="0" indent="0" algn="l">
              <a:lnSpc>
                <a:spcPts val="2657"/>
              </a:lnSpc>
              <a:spcBef>
                <a:spcPct val="0"/>
              </a:spcBef>
            </a:pPr>
            <a:endParaRPr lang="en-US" sz="1968" spc="61" dirty="0">
              <a:solidFill>
                <a:srgbClr val="2B2B2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0775602-B612-28A6-7FEF-1D8DE93AB37A}"/>
              </a:ext>
            </a:extLst>
          </p:cNvPr>
          <p:cNvGrpSpPr/>
          <p:nvPr/>
        </p:nvGrpSpPr>
        <p:grpSpPr>
          <a:xfrm>
            <a:off x="8100579" y="1707712"/>
            <a:ext cx="9981411" cy="6655479"/>
            <a:chOff x="7422025" y="1132706"/>
            <a:chExt cx="10659965" cy="7230485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2116D2B-38B9-A3F4-6BC2-598FE3D55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22025" y="1132707"/>
              <a:ext cx="5210902" cy="7230484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41EB7291-337D-423F-DD59-3120EDBB0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2930" y="1132706"/>
              <a:ext cx="5449060" cy="72304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03507">
            <a:off x="5492540" y="3717576"/>
            <a:ext cx="12583451" cy="7382737"/>
            <a:chOff x="0" y="0"/>
            <a:chExt cx="3314160" cy="19444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14160" cy="1944425"/>
            </a:xfrm>
            <a:custGeom>
              <a:avLst/>
              <a:gdLst/>
              <a:ahLst/>
              <a:cxnLst/>
              <a:rect l="l" t="t" r="r" b="b"/>
              <a:pathLst>
                <a:path w="3314160" h="1944425">
                  <a:moveTo>
                    <a:pt x="31378" y="0"/>
                  </a:moveTo>
                  <a:lnTo>
                    <a:pt x="3282783" y="0"/>
                  </a:lnTo>
                  <a:cubicBezTo>
                    <a:pt x="3300112" y="0"/>
                    <a:pt x="3314160" y="14048"/>
                    <a:pt x="3314160" y="31378"/>
                  </a:cubicBezTo>
                  <a:lnTo>
                    <a:pt x="3314160" y="1913047"/>
                  </a:lnTo>
                  <a:cubicBezTo>
                    <a:pt x="3314160" y="1930376"/>
                    <a:pt x="3300112" y="1944425"/>
                    <a:pt x="3282783" y="1944425"/>
                  </a:cubicBezTo>
                  <a:lnTo>
                    <a:pt x="31378" y="1944425"/>
                  </a:lnTo>
                  <a:cubicBezTo>
                    <a:pt x="14048" y="1944425"/>
                    <a:pt x="0" y="1930376"/>
                    <a:pt x="0" y="1913047"/>
                  </a:cubicBezTo>
                  <a:lnTo>
                    <a:pt x="0" y="31378"/>
                  </a:lnTo>
                  <a:cubicBezTo>
                    <a:pt x="0" y="14048"/>
                    <a:pt x="14048" y="0"/>
                    <a:pt x="3137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33375"/>
              <a:ext cx="3314160" cy="22777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601199" y="2201798"/>
            <a:ext cx="6934201" cy="6885052"/>
            <a:chOff x="0" y="0"/>
            <a:chExt cx="12865223" cy="9408670"/>
          </a:xfrm>
        </p:grpSpPr>
        <p:sp>
          <p:nvSpPr>
            <p:cNvPr id="6" name="AutoShape 6"/>
            <p:cNvSpPr/>
            <p:nvPr/>
          </p:nvSpPr>
          <p:spPr>
            <a:xfrm flipV="1">
              <a:off x="19106" y="19050"/>
              <a:ext cx="12846060" cy="37895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19050" y="75995"/>
              <a:ext cx="19050" cy="9307338"/>
            </a:xfrm>
            <a:prstGeom prst="line">
              <a:avLst/>
            </a:prstGeom>
            <a:ln w="38100" cap="flat">
              <a:solidFill>
                <a:srgbClr val="8D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8" name="AutoShape 8"/>
            <p:cNvSpPr/>
            <p:nvPr/>
          </p:nvSpPr>
          <p:spPr>
            <a:xfrm flipH="1">
              <a:off x="12827123" y="34237"/>
              <a:ext cx="19050" cy="9307338"/>
            </a:xfrm>
            <a:prstGeom prst="line">
              <a:avLst/>
            </a:prstGeom>
            <a:ln w="38100" cap="flat">
              <a:solidFill>
                <a:srgbClr val="8D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9" name="AutoShape 9"/>
            <p:cNvSpPr/>
            <p:nvPr/>
          </p:nvSpPr>
          <p:spPr>
            <a:xfrm flipV="1">
              <a:off x="56" y="9351724"/>
              <a:ext cx="12846060" cy="37895"/>
            </a:xfrm>
            <a:prstGeom prst="line">
              <a:avLst/>
            </a:prstGeom>
            <a:ln w="38100" cap="flat">
              <a:solidFill>
                <a:srgbClr val="8D2B2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0" name="AutoShape 10"/>
          <p:cNvSpPr/>
          <p:nvPr/>
        </p:nvSpPr>
        <p:spPr>
          <a:xfrm>
            <a:off x="-3431438" y="2920106"/>
            <a:ext cx="8918179" cy="190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846676" y="1456121"/>
            <a:ext cx="5489548" cy="1069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60"/>
              </a:lnSpc>
            </a:pPr>
            <a:r>
              <a:rPr lang="en-US" sz="5900" b="1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SCOPE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0" y="3528345"/>
            <a:ext cx="7493607" cy="5051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• Meditation &amp; wellness tracking module</a:t>
            </a:r>
          </a:p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• Advanced activity monitoring features</a:t>
            </a:r>
          </a:p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• Appointment enhancement &amp; reminders</a:t>
            </a:r>
          </a:p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• Full Family Dashboard implementation</a:t>
            </a:r>
          </a:p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• Full Caretaker Dashboard implementation</a:t>
            </a:r>
          </a:p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• UI improvements &amp; analytics</a:t>
            </a:r>
          </a:p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2867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43927" y="1373571"/>
            <a:ext cx="7493607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8D0000"/>
                </a:solidFill>
                <a:latin typeface="Poppins"/>
                <a:ea typeface="Poppins"/>
                <a:cs typeface="Poppins"/>
                <a:sym typeface="Poppins"/>
              </a:rPr>
              <a:t>ROADMAP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8760877-AF22-2239-D20F-D172DE34F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981" y="2285138"/>
            <a:ext cx="6736599" cy="6710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57323" y="6052719"/>
            <a:ext cx="8373354" cy="1122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7800" b="1">
                <a:solidFill>
                  <a:srgbClr val="8D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 rot="-2789597">
            <a:off x="3772037" y="3233825"/>
            <a:ext cx="1806757" cy="1580912"/>
            <a:chOff x="0" y="0"/>
            <a:chExt cx="812800" cy="7112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D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-3175"/>
              <a:ext cx="558800" cy="6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89597">
            <a:off x="4435104" y="3691356"/>
            <a:ext cx="1636058" cy="1704603"/>
            <a:chOff x="0" y="0"/>
            <a:chExt cx="812800" cy="84685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46854"/>
            </a:xfrm>
            <a:custGeom>
              <a:avLst/>
              <a:gdLst/>
              <a:ahLst/>
              <a:cxnLst/>
              <a:rect l="l" t="t" r="r" b="b"/>
              <a:pathLst>
                <a:path w="812800" h="846854">
                  <a:moveTo>
                    <a:pt x="406400" y="0"/>
                  </a:moveTo>
                  <a:lnTo>
                    <a:pt x="812800" y="846854"/>
                  </a:lnTo>
                  <a:lnTo>
                    <a:pt x="0" y="84685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27F7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59807"/>
              <a:ext cx="558800" cy="726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3503507">
            <a:off x="-1534549" y="7674004"/>
            <a:ext cx="5968439" cy="2484763"/>
            <a:chOff x="0" y="0"/>
            <a:chExt cx="1571935" cy="65442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71935" cy="654423"/>
            </a:xfrm>
            <a:custGeom>
              <a:avLst/>
              <a:gdLst/>
              <a:ahLst/>
              <a:cxnLst/>
              <a:rect l="l" t="t" r="r" b="b"/>
              <a:pathLst>
                <a:path w="1571935" h="654423">
                  <a:moveTo>
                    <a:pt x="66154" y="0"/>
                  </a:moveTo>
                  <a:lnTo>
                    <a:pt x="1505780" y="0"/>
                  </a:lnTo>
                  <a:cubicBezTo>
                    <a:pt x="1523326" y="0"/>
                    <a:pt x="1540152" y="6970"/>
                    <a:pt x="1552558" y="19376"/>
                  </a:cubicBezTo>
                  <a:cubicBezTo>
                    <a:pt x="1564965" y="31782"/>
                    <a:pt x="1571935" y="48609"/>
                    <a:pt x="1571935" y="66154"/>
                  </a:cubicBezTo>
                  <a:lnTo>
                    <a:pt x="1571935" y="588269"/>
                  </a:lnTo>
                  <a:cubicBezTo>
                    <a:pt x="1571935" y="624805"/>
                    <a:pt x="1542316" y="654423"/>
                    <a:pt x="1505780" y="654423"/>
                  </a:cubicBezTo>
                  <a:lnTo>
                    <a:pt x="66154" y="654423"/>
                  </a:lnTo>
                  <a:cubicBezTo>
                    <a:pt x="29618" y="654423"/>
                    <a:pt x="0" y="624805"/>
                    <a:pt x="0" y="588269"/>
                  </a:cubicBezTo>
                  <a:lnTo>
                    <a:pt x="0" y="66154"/>
                  </a:lnTo>
                  <a:cubicBezTo>
                    <a:pt x="0" y="29618"/>
                    <a:pt x="29618" y="0"/>
                    <a:pt x="66154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33375"/>
              <a:ext cx="1571935" cy="987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3503507">
            <a:off x="13720747" y="826484"/>
            <a:ext cx="6145518" cy="2741564"/>
            <a:chOff x="0" y="0"/>
            <a:chExt cx="1618573" cy="7220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18573" cy="722058"/>
            </a:xfrm>
            <a:custGeom>
              <a:avLst/>
              <a:gdLst/>
              <a:ahLst/>
              <a:cxnLst/>
              <a:rect l="l" t="t" r="r" b="b"/>
              <a:pathLst>
                <a:path w="1618573" h="722058">
                  <a:moveTo>
                    <a:pt x="64248" y="0"/>
                  </a:moveTo>
                  <a:lnTo>
                    <a:pt x="1554325" y="0"/>
                  </a:lnTo>
                  <a:cubicBezTo>
                    <a:pt x="1571364" y="0"/>
                    <a:pt x="1587706" y="6769"/>
                    <a:pt x="1599755" y="18818"/>
                  </a:cubicBezTo>
                  <a:cubicBezTo>
                    <a:pt x="1611804" y="30867"/>
                    <a:pt x="1618573" y="47208"/>
                    <a:pt x="1618573" y="64248"/>
                  </a:cubicBezTo>
                  <a:lnTo>
                    <a:pt x="1618573" y="657810"/>
                  </a:lnTo>
                  <a:cubicBezTo>
                    <a:pt x="1618573" y="674850"/>
                    <a:pt x="1611804" y="691191"/>
                    <a:pt x="1599755" y="703240"/>
                  </a:cubicBezTo>
                  <a:cubicBezTo>
                    <a:pt x="1587706" y="715289"/>
                    <a:pt x="1571364" y="722058"/>
                    <a:pt x="1554325" y="722058"/>
                  </a:cubicBezTo>
                  <a:lnTo>
                    <a:pt x="64248" y="722058"/>
                  </a:lnTo>
                  <a:cubicBezTo>
                    <a:pt x="47208" y="722058"/>
                    <a:pt x="30867" y="715289"/>
                    <a:pt x="18818" y="703240"/>
                  </a:cubicBezTo>
                  <a:cubicBezTo>
                    <a:pt x="6769" y="691191"/>
                    <a:pt x="0" y="674850"/>
                    <a:pt x="0" y="657810"/>
                  </a:cubicBezTo>
                  <a:lnTo>
                    <a:pt x="0" y="64248"/>
                  </a:lnTo>
                  <a:cubicBezTo>
                    <a:pt x="0" y="47208"/>
                    <a:pt x="6769" y="30867"/>
                    <a:pt x="18818" y="18818"/>
                  </a:cubicBezTo>
                  <a:cubicBezTo>
                    <a:pt x="30867" y="6769"/>
                    <a:pt x="47208" y="0"/>
                    <a:pt x="64248" y="0"/>
                  </a:cubicBezTo>
                  <a:close/>
                </a:path>
              </a:pathLst>
            </a:custGeom>
            <a:solidFill>
              <a:srgbClr val="FFE9E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33375"/>
              <a:ext cx="1618573" cy="1055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24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156</Words>
  <Application>Microsoft Office PowerPoint</Application>
  <PresentationFormat>Custom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Poppins Italics</vt:lpstr>
      <vt:lpstr>Arial</vt:lpstr>
      <vt:lpstr>Canva Sans Bold</vt:lpstr>
      <vt:lpstr>Poppins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&amp; White Geometric Bold Simple Company Profile Presentation</dc:title>
  <cp:lastModifiedBy>Kalp Patel</cp:lastModifiedBy>
  <cp:revision>4</cp:revision>
  <dcterms:created xsi:type="dcterms:W3CDTF">2006-08-16T00:00:00Z</dcterms:created>
  <dcterms:modified xsi:type="dcterms:W3CDTF">2026-02-26T04:34:27Z</dcterms:modified>
  <dc:identifier>DAHCWX8BF7Y</dc:identifier>
</cp:coreProperties>
</file>